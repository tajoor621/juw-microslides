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jpe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jpe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31520" y="21488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Enzyme Immobilization</a:t>
            </a:r>
            <a:endParaRPr lang="en-US" sz="3400" dirty="0"/>
          </a:p>
        </p:txBody>
      </p:sp>
      <p:sp>
        <p:nvSpPr>
          <p:cNvPr id="6" name="Shape 2"/>
          <p:cNvSpPr/>
          <p:nvPr/>
        </p:nvSpPr>
        <p:spPr>
          <a:xfrm>
            <a:off x="9646920" y="4160520"/>
            <a:ext cx="640080" cy="54864"/>
          </a:xfrm>
          <a:prstGeom prst="rect">
            <a:avLst/>
          </a:prstGeom>
          <a:solidFill>
            <a:srgbClr val="4E8EA8"/>
          </a:solidFill>
          <a:ln/>
        </p:spPr>
      </p:sp>
      <p:sp>
        <p:nvSpPr>
          <p:cNvPr id="7" name="Text 3"/>
          <p:cNvSpPr/>
          <p:nvPr/>
        </p:nvSpPr>
        <p:spPr>
          <a:xfrm>
            <a:off x="6766560" y="434340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Microbial Enzyme Technology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MIC-4511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Ms. Noor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Microbiology</a:t>
            </a:r>
            <a:endParaRPr lang="en-US" sz="1200" dirty="0"/>
          </a:p>
        </p:txBody>
      </p:sp>
      <p:pic>
        <p:nvPicPr>
          <p:cNvPr id="8" name="Image 2" descr="preencoded-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983480"/>
            <a:ext cx="233172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products in the context of Enzyme Immobilization.</a:t>
            </a:r>
            <a:endParaRPr lang="en-US" sz="1600" dirty="0"/>
          </a:p>
        </p:txBody>
      </p:sp>
      <p:pic>
        <p:nvPicPr>
          <p:cNvPr id="8" name="Image 2" descr="preencoded-6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Staphylococcus biofilm SEM  ·  CDC / Janice Carr  ·  Public domain (CDC)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7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8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Products — Enzyme Immobilization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 (Penicillium, Streptomyces), industrial enzymes (amylases, proteases, cellulases).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acids, vitamins, and recombinant proteins (insulin, vaccines) in E. coli or CHO.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Immobilised cells and enzymes improve reuse; alginate beads are the teaching example.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biology: pathway refactoring, CRISPR, cell-free systems for rapid prototyping.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920240" y="63550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R. Die Aetiologie der Tuberkulose. Mitt Kaiserlichen Gesundheitsamte. 1884:1–88.</a:t>
            </a:r>
            <a:endParaRPr lang="en-US" sz="900" dirty="0"/>
          </a:p>
        </p:txBody>
      </p:sp>
      <p:pic>
        <p:nvPicPr>
          <p:cNvPr id="9" name="Image 2" descr="preencoded-9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Alginate hydrogel beads  ·  JUW-MicroSlides teaching visual (CC0)  ·  CC0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10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11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Enzyme Immobilization actually is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a one-sentence operational definition of Enzyme Immobilization that a first-year could mark.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scale (molecule, cell, population, process) this lecture lives 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it is not — the nearest confusion students bring into the room.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noun you want on the exam script and nowhere else.</a:t>
            </a:r>
            <a:endParaRPr lang="en-US" sz="1600" dirty="0"/>
          </a:p>
        </p:txBody>
      </p:sp>
      <p:pic>
        <p:nvPicPr>
          <p:cNvPr id="8" name="Image 2" descr="preencoded-12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Michaelis–Menten saturation curve  ·  Wikimedia Commons  ·  CC BY-SA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13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14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Enzyme Immobilization was hard to see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method first made the phenomenon visible (stain, culture, assay, sequence, sensor)?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a negative result mean in that first method?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modern method replaced it for treatment or process decisions?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one artefact that still fools student practicals.</a:t>
            </a:r>
            <a:endParaRPr lang="en-US" sz="1600" dirty="0"/>
          </a:p>
        </p:txBody>
      </p:sp>
      <p:pic>
        <p:nvPicPr>
          <p:cNvPr id="8" name="Image 2" descr="preencoded-15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spectrophotometer  ·  Wikimedia Commons  ·  CC BY-SA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16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17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Enzyme Immobilization: compare and contrast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548640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novice confuses this with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jargon or surface features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textbooks overlap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217920" y="1965960"/>
            <a:ext cx="5394960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discriminating test or structure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getting it wrong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sentence that should stay on the exam</a:t>
            </a:r>
            <a:endParaRPr lang="en-US" sz="1500" dirty="0"/>
          </a:p>
        </p:txBody>
      </p:sp>
      <p:pic>
        <p:nvPicPr>
          <p:cNvPr id="9" name="Image 2" descr="preencoded-18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00600"/>
            <a:ext cx="4023360" cy="1417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623620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Stirred-tank bioreactor  ·  Wikimedia Commons  ·  CC BY-SA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19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20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Methods that make Enzyme Immobilization visible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first-line stain, culture, or assay you would run before specialised tests for Enzyme Immobilization.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what a negative result does — and does not — rule out.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a rapid method with a confirmatory method and say which is used for a decision.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one biosafety or contamination trap in the student laboratory.</a:t>
            </a:r>
            <a:endParaRPr lang="en-US" sz="1600" dirty="0"/>
          </a:p>
        </p:txBody>
      </p:sp>
      <p:pic>
        <p:nvPicPr>
          <p:cNvPr id="8" name="Image 2" descr="preencoded-21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Plasmodium falciparum ring forms  ·  CDC / Dr. Mae Melvin  ·  Public domain (CDC)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22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23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this figure — Enzyme Immobilization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1124712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specimen, stain, or schematic actually showing?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labelled structure would be absent in a knockout or a failed process?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exam-style question whose answer is on this figure.</a:t>
            </a:r>
            <a:endParaRPr lang="en-US" sz="1600" dirty="0"/>
          </a:p>
        </p:txBody>
      </p:sp>
      <p:pic>
        <p:nvPicPr>
          <p:cNvPr id="8" name="Image 2" descr="preencoded-24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965960"/>
            <a:ext cx="5120640" cy="39776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37960" y="5961888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Bacillus anthracis Gram stain  ·  CDC  ·  Public domain (CDC)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25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26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vignette — Enzyme Immobilization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room a short stem (patient, plant, fermenter, or outbreak) with two red herrings.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which observation would change the working model of Enzyme Immobilization.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one cited mechanism, not a list of names.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brief: JUW MIC-4511 Microbial Enzyme Technology. Prepared by Ms. Noor.</a:t>
            </a:r>
            <a:endParaRPr lang="en-US" sz="1600" dirty="0"/>
          </a:p>
        </p:txBody>
      </p:sp>
      <p:pic>
        <p:nvPicPr>
          <p:cNvPr id="8" name="Image 2" descr="preencoded-27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HPLC chromatography system  ·  Wikimedia Commons  ·  CC BY-SA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28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29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Enzyme Immobilization matters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Enzyme Immobilization to diagnostics, therapeutics, or environmental practice the class will meet this term.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one misconception a first-year student typically brings into the room.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a method (stain, culture, PCR, serology, sequencing) that makes the organism or process visible.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emphasis: JUW MIC-4511 Microbial Enzyme Technology. Prepared by Ms. Noor.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920240" y="63550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Woese CR, Fox GE. Phylogenetic structure of the prokaryotic domain: the primary kingdoms. Proc Natl Acad Sci USA. 1977 74:5088–5090. doi:10.1073/pnas.74.11.5088</a:t>
            </a:r>
            <a:endParaRPr lang="en-US" sz="900" dirty="0"/>
          </a:p>
        </p:txBody>
      </p:sp>
      <p:pic>
        <p:nvPicPr>
          <p:cNvPr id="9" name="Image 2" descr="preencoded-30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Chlorella cells  ·  JUW-MicroSlides teaching visual (CC0)  ·  CC0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31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32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Take-home points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Antibiotics (Penicillium, Streptomyces), industrial enzymes (amylases, proteases, cellulases).</a:t>
            </a:r>
            <a:endParaRPr lang="en-US" sz="1600" dirty="0"/>
          </a:p>
        </p:txBody>
      </p:sp>
      <p:pic>
        <p:nvPicPr>
          <p:cNvPr id="8" name="Image 2" descr="preencoded-33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colonies on agar  ·  N. F. / Wikimedia Commons  ·  CC BY-SA 3.0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4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" y="109728"/>
            <a:ext cx="11969496" cy="6638544"/>
          </a:xfrm>
          <a:prstGeom prst="rect">
            <a:avLst/>
          </a:prstGeom>
          <a:solidFill>
            <a:srgbClr val="FFFFFF"/>
          </a:solidFill>
          <a:ln w="12700">
            <a:solidFill>
              <a:srgbClr val="954A33"/>
            </a:solidFill>
            <a:prstDash val="solid"/>
          </a:ln>
        </p:spPr>
      </p:sp>
      <p:pic>
        <p:nvPicPr>
          <p:cNvPr id="3" name="Image 0" descr="preencoded-34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1078992" cy="1078992"/>
          </a:xfrm>
          <a:prstGeom prst="rect">
            <a:avLst/>
          </a:prstGeom>
        </p:spPr>
      </p:pic>
      <p:pic>
        <p:nvPicPr>
          <p:cNvPr id="4" name="Image 1" descr="preencoded-35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5640" y="219456"/>
            <a:ext cx="1078992" cy="107899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20040" y="64008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457200" y="12801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5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Selected references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457200" y="1965960"/>
            <a:ext cx="67665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R (1884). Die Aetiologie der Tuberkulose.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Woese CR, Fox GE (1977). Phylogenetic structure of the prokaryotic domain: the primary kingdoms.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920240" y="6355080"/>
            <a:ext cx="9692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 R. Die Aetiologie der Tuberkulose. Mitt Kaiserlichen Gesundheitsamte. 1884:1–88.  ·  Woese CR, Fox GE. Phylogenetic structure of the prokaryotic domain: the primary kingdoms. Proc Natl Acad Sci USA. 1977 74:5088–5090. doi:10.1073/pnas.74.11.5088</a:t>
            </a:r>
            <a:endParaRPr lang="en-US" sz="900" dirty="0"/>
          </a:p>
        </p:txBody>
      </p:sp>
      <p:pic>
        <p:nvPicPr>
          <p:cNvPr id="9" name="Image 2" descr="preencoded-36.jpe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65960"/>
            <a:ext cx="4297680" cy="37947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2360" y="577900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 thermal cycle  ·  Enzoklop / Wikimedia  ·  CC BY-SA 3.0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Enzyme Immobilization — Industrial &amp; Biotechnology Microbiology</dc:title>
  <dc:subject>Industrial &amp; Biotechnology Microbiology · Enzyme Immobilization</dc:subject>
  <dc:creator>JUW-MicroSlides</dc:creator>
  <cp:lastModifiedBy>JUW-MicroSlides</cp:lastModifiedBy>
  <cp:revision>1</cp:revision>
  <dcterms:created xsi:type="dcterms:W3CDTF">2026-10-04T17:15:31Z</dcterms:created>
  <dcterms:modified xsi:type="dcterms:W3CDTF">2026-10-04T17:15:31Z</dcterms:modified>
</cp:coreProperties>
</file>